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280160" cy="38100"/>
          </a:xfrm>
          <a:prstGeom prst="rect">
            <a:avLst/>
          </a:prstGeom>
          <a:solidFill>
            <a:srgbClr val="B5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D6A857"/>
                </a:solidFill>
                <a:latin typeface="游ゴシック"/>
                <a:ea typeface="游ゴシック"/>
                <a:cs typeface="游ゴシック"/>
              </a:rPr>
              <a:t>店舗向け 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游明朝"/>
                <a:ea typeface="游明朝"/>
                <a:cs typeface="游明朝"/>
              </a:rPr>
              <a:t>お店の“お金とキャスト”を、</a:t>
            </a:r>
          </a:p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游明朝"/>
                <a:ea typeface="游明朝"/>
                <a:cs typeface="游明朝"/>
              </a:rPr>
              <a:t>会計するだけで整える POS。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注文と会計を入力するだけ。キャストのバック、給与、純利益、金庫の残高まで、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後ろの計算はぜんぶ自動。締めの集計とエクセルから、お店を解放します。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0"/>
            <a:ext cx="0" cy="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0"/>
            <a:ext cx="0" cy="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0"/>
            <a:ext cx="0" cy="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0"/>
            <a:ext cx="0" cy="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5806440"/>
            <a:ext cx="1014984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14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スマホで完結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4248" y="5806440"/>
            <a:ext cx="11201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4248" y="5806440"/>
            <a:ext cx="11201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バック自動計算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0692" y="5806440"/>
            <a:ext cx="1014984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0692" y="5806440"/>
            <a:ext cx="1014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売上・純利益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1980" y="5806440"/>
            <a:ext cx="804672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1980" y="5806440"/>
            <a:ext cx="8046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現金残高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62956" y="5806440"/>
            <a:ext cx="1014984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2956" y="5806440"/>
            <a:ext cx="10149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シフト・打刻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30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BEFORE — 現状の課題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こんな手間、ありませんか。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15600" cy="1778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9168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キャストのバックを毎回手計算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卓バック・ドリンクバックを電卓とエクセルで、締めのたびに。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32928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「誰にいくら渡すか」がすぐ出ない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時給・日払い・源泉徴収がバラバラで、突き合わせが大変。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417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74176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カード売上と手元の現金が合わない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入金は後日、人件費は月末まとめ。今いくらあるべきか分からない。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3542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15424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売上は分かっても、利益が見えない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人件費・バック・経費を引いた“残る利益”が月末までブラックボックス。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7667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56672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シフトはLINEと手書きで共有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作るのも配るのも手作業。OP/CLの抜けにも気づきにくい。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30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SOLUTION — 一度の入力で、ぜんぶに反映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会計を入力すれば、あとは自動。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15600" cy="1778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2651760" cy="1371600"/>
          </a:xfrm>
          <a:prstGeom prst="roundRect">
            <a:avLst>
              <a:gd name="adj" fmla="val 10000"/>
            </a:avLst>
          </a:prstGeom>
          <a:solidFill>
            <a:srgbClr val="B5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spc="200">
                <a:solidFill>
                  <a:srgbClr val="2A2008"/>
                </a:solidFill>
                <a:latin typeface="游ゴシック"/>
                <a:ea typeface="游ゴシック"/>
                <a:cs typeface="游ゴシック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2161F"/>
                </a:solidFill>
                <a:latin typeface="游明朝"/>
                <a:ea typeface="游明朝"/>
                <a:cs typeface="游明朝"/>
              </a:rPr>
              <a:t>会計を入力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1880" y="2697480"/>
            <a:ext cx="640080" cy="365760"/>
          </a:xfrm>
          <a:prstGeom prst="rightArrow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194560"/>
            <a:ext cx="23317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057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SALES  </a:t>
            </a:r>
          </a:p>
          <a:p>
            <a:pPr algn="l"/>
            <a:r>
              <a:rPr sz="15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売上管理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194560"/>
            <a:ext cx="23317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194560"/>
            <a:ext cx="2057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BACK  </a:t>
            </a:r>
          </a:p>
          <a:p>
            <a:pPr algn="l"/>
            <a:r>
              <a:rPr sz="15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キャストバック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194560"/>
            <a:ext cx="23317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194560"/>
            <a:ext cx="2057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LABOR  </a:t>
            </a:r>
          </a:p>
          <a:p>
            <a:pPr algn="l"/>
            <a:r>
              <a:rPr sz="15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人件費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017520"/>
            <a:ext cx="23317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017520"/>
            <a:ext cx="2057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PROFIT  </a:t>
            </a:r>
          </a:p>
          <a:p>
            <a:pPr algn="l"/>
            <a:r>
              <a:rPr sz="15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純利益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017520"/>
            <a:ext cx="23317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017520"/>
            <a:ext cx="2057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CASH  </a:t>
            </a:r>
          </a:p>
          <a:p>
            <a:pPr algn="l"/>
            <a:r>
              <a:rPr sz="15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金庫の残高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017520"/>
            <a:ext cx="23317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017520"/>
            <a:ext cx="2057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CSV  </a:t>
            </a:r>
          </a:p>
          <a:p>
            <a:pPr algn="l"/>
            <a:r>
              <a:rPr sz="1500" b="1">
                <a:solidFill>
                  <a:srgbClr val="1B1F29"/>
                </a:solidFill>
                <a:latin typeface="游ゴシック"/>
                <a:ea typeface="游ゴシック"/>
                <a:cs typeface="游ゴシック"/>
              </a:rPr>
              <a:t>データ出力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— スタッフはレジ操作だけ。オーナーは数字を見るだけ。 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92040"/>
            <a:ext cx="10543032" cy="1234440"/>
          </a:xfrm>
          <a:prstGeom prst="roundRect">
            <a:avLst>
              <a:gd name="adj" fmla="val 6000"/>
            </a:avLst>
          </a:prstGeom>
          <a:solidFill>
            <a:srgbClr val="F4EFE4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892040"/>
            <a:ext cx="98755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売上・バック・人件費・純利益・金庫まで、その場で自動計算。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集計とエクセルの手作業を、まるごと減らします。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30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FEATURES — 主な機能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お店の運用を、ひとつのアプリに。（1/2）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515600" cy="1778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5175504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4590288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5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ORDER &amp; PAY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注文・会計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席ごとに注文、現金・カード・QR・分割払いに対応。税・決済手数料・実入金を自動計算。フリー入力や割引も。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938528"/>
            <a:ext cx="5175504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76272"/>
            <a:ext cx="4590288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5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CAST BACK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キャストバックを自動で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卓バック（担当で頭割り・最低会計額の設定可）とドリンクバック（1杯◯円）を自動計算。特例のバック調整（±）も。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24527"/>
            <a:ext cx="5175504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462271"/>
            <a:ext cx="4590288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5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PAYROLL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給与まわりを一枚に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キャスト別に、通算時給・本給・日払い・源泉徴収・「渡す残額」までまとめて集計。源泉やバックの有無も個別に設定可。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224527"/>
            <a:ext cx="5175504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462271"/>
            <a:ext cx="4590288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5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TIME &amp; WAGE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打刻・人件費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出退勤の打刻から勤務時間と人件費を自動集計。時給は「この日から◯円」で変更でき、過去分は据え置き。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30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FEATURES — 主な機能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お店の運用を、ひとつのアプリに。（2/2）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10515600" cy="1778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5175504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4590288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5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SALES &amp; PROFIT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売上管理・純利益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取引明細、支払方法別の内訳、純利益を日別・月別で表示。経費・固定費・大入・日払いも反映。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938528"/>
            <a:ext cx="5175504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176272"/>
            <a:ext cx="4590288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5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CASH BOX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金庫（現金の残高）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現金売上と経費は自動、カード入金や給与支払いは手入力で「今あるべき残高」を管理。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24527"/>
            <a:ext cx="5175504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462271"/>
            <a:ext cx="4590288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5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SHIFT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シフト管理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週の表でシフトを組み、OP/CL担当や未定をひと目で。表はそのまま画像にしてLINE等に共有。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224527"/>
            <a:ext cx="5175504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462271"/>
            <a:ext cx="4590288" cy="1627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5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ROLES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権限で守る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オーナー・マネージャー・スタッフの3権限。スタッフにはバックや売上などの金額を見せない。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30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HOW WE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導入のかたち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15600" cy="1778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221992"/>
            <a:ext cx="164592" cy="164592"/>
          </a:xfrm>
          <a:prstGeom prst="ellipse">
            <a:avLst/>
          </a:prstGeom>
          <a:solidFill>
            <a:srgbClr val="B5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188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アプリ不要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3884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スマホ・タブレットのブラウザでそのまま使えます。専用端末の購入は不要。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17520"/>
            <a:ext cx="10515600" cy="1270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246120"/>
            <a:ext cx="164592" cy="164592"/>
          </a:xfrm>
          <a:prstGeom prst="ellipse">
            <a:avLst/>
          </a:prstGeom>
          <a:solidFill>
            <a:srgbClr val="B5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14296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クラウド管理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62968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データは自動でバックアップ・同期。複数端末でリアルタイムに共有。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41648"/>
            <a:ext cx="10515600" cy="1270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270248"/>
            <a:ext cx="164592" cy="164592"/>
          </a:xfrm>
          <a:prstGeom prst="ellipse">
            <a:avLst/>
          </a:prstGeom>
          <a:solidFill>
            <a:srgbClr val="B5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167096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お店ごとに分離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187096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データは店舗単位で完全に分離。他店と混ざることはありません。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65776"/>
            <a:ext cx="10515600" cy="1270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5294376"/>
            <a:ext cx="164592" cy="164592"/>
          </a:xfrm>
          <a:prstGeom prst="ellipse">
            <a:avLst/>
          </a:prstGeom>
          <a:solidFill>
            <a:srgbClr val="B5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19122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練習用の環境つき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211224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本番とは別の“練習用”を用意。操作を気軽に試してから本番へ。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089904"/>
            <a:ext cx="10515600" cy="1270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300">
                <a:solidFill>
                  <a:srgbClr val="B5852F"/>
                </a:solidFill>
                <a:latin typeface="游ゴシック"/>
                <a:ea typeface="游ゴシック"/>
                <a:cs typeface="游ゴシック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導入までの流れ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515600" cy="17780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54203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560320"/>
            <a:ext cx="640080" cy="640080"/>
          </a:xfrm>
          <a:prstGeom prst="ellipse">
            <a:avLst/>
          </a:prstGeom>
          <a:noFill/>
          <a:ln w="17780">
            <a:solidFill>
              <a:srgbClr val="B58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20299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ヒアリング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税の扱い・卓バック率・最低会計額・決済手数料など、お店ごとの条件を確認。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2286000"/>
            <a:ext cx="254203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39896" y="2560320"/>
            <a:ext cx="640080" cy="640080"/>
          </a:xfrm>
          <a:prstGeom prst="ellipse">
            <a:avLst/>
          </a:prstGeom>
          <a:noFill/>
          <a:ln w="17780">
            <a:solidFill>
              <a:srgbClr val="B58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3383280"/>
            <a:ext cx="20299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初期設定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メニュー・キャスト・ログインアカウントをこちらで設定。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286000"/>
            <a:ext cx="254203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2560320"/>
            <a:ext cx="640080" cy="640080"/>
          </a:xfrm>
          <a:prstGeom prst="ellipse">
            <a:avLst/>
          </a:prstGeom>
          <a:noFill/>
          <a:ln w="17780">
            <a:solidFill>
              <a:srgbClr val="B58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20299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試運転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練習用の環境で操作を試し、運用に合わせて微調整。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5672" y="2286000"/>
            <a:ext cx="254203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61704" y="2560320"/>
            <a:ext cx="640080" cy="640080"/>
          </a:xfrm>
          <a:prstGeom prst="ellipse">
            <a:avLst/>
          </a:prstGeom>
          <a:noFill/>
          <a:ln w="17780">
            <a:solidFill>
              <a:srgbClr val="B58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25603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B5852F"/>
                </a:solidFill>
                <a:latin typeface="游明朝"/>
                <a:ea typeface="游明朝"/>
                <a:cs typeface="游明朝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3383280"/>
            <a:ext cx="20299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1F29"/>
                </a:solidFill>
                <a:latin typeface="游明朝"/>
                <a:ea typeface="游明朝"/>
                <a:cs typeface="游明朝"/>
              </a:rPr>
              <a:t>本番スタート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6E6656"/>
                </a:solidFill>
                <a:latin typeface="游ゴシック"/>
                <a:ea typeface="游ゴシック"/>
                <a:cs typeface="游ゴシック"/>
              </a:rPr>
              <a:t>本番へ切り替え、導入後もサポート。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280160" cy="38100"/>
          </a:xfrm>
          <a:prstGeom prst="rect">
            <a:avLst/>
          </a:prstGeom>
          <a:solidFill>
            <a:srgbClr val="B5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游明朝"/>
                <a:ea typeface="游明朝"/>
                <a:cs typeface="游明朝"/>
              </a:rPr>
              <a:t>まずは、デモをご覧ください。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実際の画面で、会計からバック・純利益・金庫までの流れをご案内します。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料金・サポート内容はご相談ください。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C9BC"/>
                </a:solidFill>
                <a:latin typeface="游ゴシック"/>
                <a:ea typeface="游ゴシック"/>
                <a:cs typeface="游ゴシック"/>
              </a:rPr>
              <a:t>お問い合わせ：</a:t>
            </a:r>
          </a:p>
          <a:p>
            <a:pPr algn="l"/>
            <a:r>
              <a:rPr sz="1600" b="1">
                <a:solidFill>
                  <a:srgbClr val="D6A857"/>
                </a:solidFill>
                <a:latin typeface="游ゴシック"/>
                <a:ea typeface="游ゴシック"/>
                <a:cs typeface="游ゴシック"/>
              </a:rPr>
              <a:t>［ 連絡先を記入 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A6F7C"/>
                </a:solidFill>
                <a:latin typeface="游ゴシック"/>
                <a:ea typeface="游ゴシック"/>
                <a:cs typeface="游ゴシック"/>
              </a:rPr>
              <a:t>※ 本資料は提案用のドラフトです。店名・料金・連絡先は差し替えてご利用ください。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